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60152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11827"/>
                </a:solidFill>
                <a:latin typeface="Outfit"/>
              </a:defRPr>
            </a:pPr>
            <a:r>
              <a:t>MINI PROJECT REPORT</a:t>
            </a:r>
          </a:p>
          <a:p>
            <a:pPr algn="ctr">
              <a:spcBef>
                <a:spcPts val="2000"/>
              </a:spcBef>
              <a:defRPr sz="3600" b="1">
                <a:solidFill>
                  <a:srgbClr val="1A56DB"/>
                </a:solidFill>
                <a:latin typeface="Outfit"/>
              </a:defRPr>
            </a:pPr>
            <a:r>
              <a:t>AEROQUEST: GLOBAL AIR QUALITY &amp; WEATHER ANALYTICS HUB</a:t>
            </a:r>
          </a:p>
          <a:p>
            <a:pPr algn="ctr">
              <a:spcBef>
                <a:spcPts val="1000"/>
              </a:spcBef>
              <a:defRPr sz="1600" i="1">
                <a:solidFill>
                  <a:srgbClr val="6B7280"/>
                </a:solidFill>
                <a:latin typeface="Inter"/>
              </a:defRPr>
            </a:pPr>
            <a:r>
              <a:t>A Python-Based Application for Real-Time Atmospheric Monitoring</a:t>
            </a:r>
          </a:p>
          <a:p>
            <a:pPr algn="ctr">
              <a:spcBef>
                <a:spcPts val="3000"/>
              </a:spcBef>
              <a:defRPr sz="1300">
                <a:solidFill>
                  <a:srgbClr val="111827"/>
                </a:solidFill>
                <a:latin typeface="Inter"/>
              </a:defRPr>
            </a:pPr>
            <a:r>
              <a:t>Submitted in partial fulfilment of the requirements for</a:t>
            </a:r>
          </a:p>
          <a:p>
            <a:pPr algn="ctr">
              <a:defRPr sz="1300" b="1">
                <a:solidFill>
                  <a:srgbClr val="111827"/>
                </a:solidFill>
                <a:latin typeface="Inter"/>
              </a:defRPr>
            </a:pPr>
            <a:r>
              <a:t>Course: 25BEphy104 (Python Programming)</a:t>
            </a:r>
          </a:p>
          <a:p>
            <a:pPr algn="ctr">
              <a:spcBef>
                <a:spcPts val="2000"/>
              </a:spcBef>
              <a:defRPr sz="1200">
                <a:solidFill>
                  <a:srgbClr val="6B7280"/>
                </a:solidFill>
                <a:latin typeface="Inter"/>
              </a:defRPr>
            </a:pPr>
            <a:r>
              <a:t>Submitted by:</a:t>
            </a:r>
          </a:p>
          <a:p>
            <a:pPr algn="ctr">
              <a:spcBef>
                <a:spcPts val="400"/>
              </a:spcBef>
              <a:defRPr sz="1300" b="1">
                <a:solidFill>
                  <a:srgbClr val="111827"/>
                </a:solidFill>
                <a:latin typeface="Inter"/>
              </a:defRPr>
            </a:pPr>
            <a:r>
              <a:t>SHIVARAJ - 25SUUBECS1323  |  SHIVAKUMAR KH - 25SUUBECS1319</a:t>
            </a:r>
          </a:p>
          <a:p>
            <a:pPr algn="ctr">
              <a:spcBef>
                <a:spcPts val="400"/>
              </a:spcBef>
              <a:defRPr sz="1300" b="1">
                <a:solidFill>
                  <a:srgbClr val="111827"/>
                </a:solidFill>
                <a:latin typeface="Inter"/>
              </a:defRPr>
            </a:pPr>
            <a:r>
              <a:t>SHREYAS AG - 25SUUBECS1351  |  SHREYAS HS - 25SUUBECS1354</a:t>
            </a:r>
          </a:p>
          <a:p>
            <a:pPr algn="ctr">
              <a:spcBef>
                <a:spcPts val="400"/>
              </a:spcBef>
              <a:defRPr sz="1300" b="1">
                <a:solidFill>
                  <a:srgbClr val="111827"/>
                </a:solidFill>
                <a:latin typeface="Inter"/>
              </a:defRPr>
            </a:pPr>
            <a:r>
              <a:t>SHREYAS SUVIGYA - 25SUUBECS1361</a:t>
            </a:r>
          </a:p>
          <a:p>
            <a:pPr algn="ctr">
              <a:spcBef>
                <a:spcPts val="2000"/>
              </a:spcBef>
              <a:defRPr sz="1200">
                <a:solidFill>
                  <a:srgbClr val="111827"/>
                </a:solidFill>
                <a:latin typeface="Inter"/>
              </a:defRPr>
            </a:pPr>
            <a:r>
              <a:t>Department of Computer Science and Engineering</a:t>
            </a:r>
          </a:p>
          <a:p>
            <a:pPr algn="ctr">
              <a:defRPr sz="1200">
                <a:solidFill>
                  <a:srgbClr val="111827"/>
                </a:solidFill>
                <a:latin typeface="Inter"/>
              </a:defRPr>
            </a:pPr>
            <a: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A56DB"/>
                </a:solidFill>
                <a:latin typeface="Outfit"/>
              </a:defRPr>
            </a:pPr>
            <a:r>
              <a:t>ABSTRACT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015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1800">
                <a:solidFill>
                  <a:srgbClr val="111827"/>
                </a:solidFill>
                <a:latin typeface="Inter"/>
              </a:defRPr>
            </a:pPr>
            <a:r>
              <a:t>The AeroQuest Air Quality Hub is a Python-based application designed to solve one of the most critical environmental health challenges: lack of public access to real-time atmospheric data. Air pollution is a major risk factor for respiratory illness. Many existing weather tools lack granular ground-station readings, making it difficult for the public and sensitive groups to plan outdoor activities or home ventilation.</a:t>
            </a:r>
          </a:p>
          <a:p>
            <a:pPr>
              <a:defRPr sz="1800">
                <a:solidFill>
                  <a:srgbClr val="111827"/>
                </a:solidFill>
                <a:latin typeface="Inter"/>
              </a:defRPr>
            </a:pPr>
            <a:r>
              <a:t>The proposed system blends live ground-station Air Quality Index readings from the WAQI API with forecast weather data from the Open-Meteo API onto a single dashboard. It automates WHO exceedance warnings, displays weather-AQI correlation insights, and tracks cleanest cities using an SQLite database, ultimately improving quality of life and environmental safety.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60152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1A56DB"/>
                </a:solidFill>
                <a:latin typeface="Outfit"/>
              </a:defRPr>
            </a:pPr>
            <a:r>
              <a:t>CHAPTER 1</a:t>
            </a:r>
          </a:p>
          <a:p>
            <a:pPr algn="ctr">
              <a:spcBef>
                <a:spcPts val="1500"/>
              </a:spcBef>
              <a:defRPr sz="2800" b="1">
                <a:solidFill>
                  <a:srgbClr val="111827"/>
                </a:solidFill>
                <a:latin typeface="Outfit"/>
              </a:defRPr>
            </a:pPr>
            <a:r>
              <a:t>OBJECTIVES, ABSTRACT &amp; INTRODUCTION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A56DB"/>
                </a:solidFill>
                <a:latin typeface="Outfit"/>
              </a:defRPr>
            </a:pPr>
            <a:r>
              <a:t>1.1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015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000">
                <a:solidFill>
                  <a:srgbClr val="111827"/>
                </a:solidFill>
                <a:latin typeface="Inter"/>
              </a:defRPr>
            </a:pPr>
            <a:r>
              <a:t>•  Blend live ground-station measurements (WAQI API) and weather forecast models (Open-Meteo API) globally.</a:t>
            </a:r>
          </a:p>
          <a:p>
            <a:pPr>
              <a:spcAft>
                <a:spcPts val="1600"/>
              </a:spcAft>
              <a:defRPr sz="2000">
                <a:solidFill>
                  <a:srgbClr val="111827"/>
                </a:solidFill>
                <a:latin typeface="Inter"/>
              </a:defRPr>
            </a:pPr>
            <a:r>
              <a:t>•  Calculate and show warnings when pollutants exceed WHO 24-hour safe limits.</a:t>
            </a:r>
          </a:p>
          <a:p>
            <a:pPr>
              <a:spcAft>
                <a:spcPts val="1600"/>
              </a:spcAft>
              <a:defRPr sz="2000">
                <a:solidFill>
                  <a:srgbClr val="111827"/>
                </a:solidFill>
                <a:latin typeface="Inter"/>
              </a:defRPr>
            </a:pPr>
            <a:r>
              <a:t>•  Analyze how current wind speeds, relative humidity, and temperatures affect localized air quality.</a:t>
            </a:r>
          </a:p>
          <a:p>
            <a:pPr>
              <a:spcAft>
                <a:spcPts val="1600"/>
              </a:spcAft>
              <a:defRPr sz="2000">
                <a:solidFill>
                  <a:srgbClr val="111827"/>
                </a:solidFill>
                <a:latin typeface="Inter"/>
              </a:defRPr>
            </a:pPr>
            <a:r>
              <a:t>•  Store search logs and bookmark favorites locally in a dynamic Leaderboard.</a:t>
            </a:r>
          </a:p>
          <a:p>
            <a:pPr>
              <a:spcAft>
                <a:spcPts val="1600"/>
              </a:spcAft>
              <a:defRPr sz="2000">
                <a:solidFill>
                  <a:srgbClr val="111827"/>
                </a:solidFill>
                <a:latin typeface="Inter"/>
              </a:defRPr>
            </a:pPr>
            <a:r>
              <a:t>•  Provide dynamic GIS maps and side-by-side multi-parameter city comparisons.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A56DB"/>
                </a:solidFill>
                <a:latin typeface="Outfit"/>
              </a:defRPr>
            </a:pPr>
            <a:r>
              <a:t>1.2 ABSTRACT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015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000">
                <a:solidFill>
                  <a:srgbClr val="111827"/>
                </a:solidFill>
                <a:latin typeface="Inter"/>
              </a:defRPr>
            </a:pPr>
            <a:r>
              <a:t>•  AeroQuest automates air quality tracking, helping sensitive groups avoid health risks.</a:t>
            </a:r>
          </a:p>
          <a:p>
            <a:pPr>
              <a:spcAft>
                <a:spcPts val="1600"/>
              </a:spcAft>
              <a:defRPr sz="2000">
                <a:solidFill>
                  <a:srgbClr val="111827"/>
                </a:solidFill>
                <a:latin typeface="Inter"/>
              </a:defRPr>
            </a:pPr>
            <a:r>
              <a:t>•  Bypasses demo token limitations through latitude/longitude coordinate distance verification checks.</a:t>
            </a:r>
          </a:p>
          <a:p>
            <a:pPr>
              <a:spcAft>
                <a:spcPts val="1600"/>
              </a:spcAft>
              <a:defRPr sz="2000">
                <a:solidFill>
                  <a:srgbClr val="111827"/>
                </a:solidFill>
                <a:latin typeface="Inter"/>
              </a:defRPr>
            </a:pPr>
            <a:r>
              <a:t>•  Presents complex scientific environmental measurements as simple, actionable alerts.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A56DB"/>
                </a:solidFill>
                <a:latin typeface="Outfit"/>
              </a:defRPr>
            </a:pPr>
            <a:r>
              <a:t>1.3 INTRODUCTION (PART 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015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000">
                <a:solidFill>
                  <a:srgbClr val="111827"/>
                </a:solidFill>
                <a:latin typeface="Inter"/>
              </a:defRPr>
            </a:pPr>
            <a:r>
              <a:t>•  Managing exposure to air pollutants (PM2.5, PM10, CO, NO2) is critical for patients with respiratory diseases.</a:t>
            </a:r>
          </a:p>
          <a:p>
            <a:pPr>
              <a:spcAft>
                <a:spcPts val="1600"/>
              </a:spcAft>
              <a:defRPr sz="2000">
                <a:solidFill>
                  <a:srgbClr val="111827"/>
                </a:solidFill>
                <a:latin typeface="Inter"/>
              </a:defRPr>
            </a:pPr>
            <a:r>
              <a:t>•  Standard weather channels lack immediate health recommendations indicating outdoor activity safety.</a:t>
            </a:r>
          </a:p>
          <a:p>
            <a:pPr>
              <a:spcAft>
                <a:spcPts val="1600"/>
              </a:spcAft>
              <a:defRPr sz="2000">
                <a:solidFill>
                  <a:srgbClr val="111827"/>
                </a:solidFill>
                <a:latin typeface="Inter"/>
              </a:defRPr>
            </a:pPr>
            <a:r>
              <a:t>•  This gap motivates the present project: an interactive atmospheric diagnostic dashboard.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A56DB"/>
                </a:solidFill>
                <a:latin typeface="Outfit"/>
              </a:defRPr>
            </a:pPr>
            <a:r>
              <a:t>1.3 INTRODUCTION (PART 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015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000">
                <a:solidFill>
                  <a:srgbClr val="111827"/>
                </a:solidFill>
                <a:latin typeface="Inter"/>
              </a:defRPr>
            </a:pPr>
            <a:r>
              <a:t>•  AeroQuest connects a Flask-based PYTHON backend to open-source geocoding and weather APIs.</a:t>
            </a:r>
          </a:p>
          <a:p>
            <a:pPr>
              <a:spcAft>
                <a:spcPts val="1600"/>
              </a:spcAft>
              <a:defRPr sz="2000">
                <a:solidFill>
                  <a:srgbClr val="111827"/>
                </a:solidFill>
                <a:latin typeface="Inter"/>
              </a:defRPr>
            </a:pPr>
            <a:r>
              <a:t>•  Allows users to view local conditions on a custom dashboard, save preferred locations, and compare cities.</a:t>
            </a:r>
          </a:p>
          <a:p>
            <a:pPr>
              <a:spcAft>
                <a:spcPts val="1600"/>
              </a:spcAft>
              <a:defRPr sz="2000">
                <a:solidFill>
                  <a:srgbClr val="111827"/>
                </a:solidFill>
                <a:latin typeface="Inter"/>
              </a:defRPr>
            </a:pPr>
            <a:r>
              <a:t>•  Bridges the gap between raw data indexes and daily personal wellness decisions.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60152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1A56DB"/>
                </a:solidFill>
                <a:latin typeface="Outfit"/>
              </a:defRPr>
            </a:pPr>
            <a:r>
              <a:t>CHAPTER 2</a:t>
            </a:r>
          </a:p>
          <a:p>
            <a:pPr algn="ctr">
              <a:spcBef>
                <a:spcPts val="1500"/>
              </a:spcBef>
              <a:defRPr sz="2800" b="1">
                <a:solidFill>
                  <a:srgbClr val="111827"/>
                </a:solidFill>
                <a:latin typeface="Outfit"/>
              </a:defRPr>
            </a:pPr>
            <a:r>
              <a:t>ALGORITHM / FLOWCHART &amp; CODE WITH COMMENTS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A56DB"/>
                </a:solidFill>
                <a:latin typeface="Outfit"/>
              </a:defRPr>
            </a:pPr>
            <a:r>
              <a:t>2.1 PROPOSED WORK &amp;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015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000">
                <a:solidFill>
                  <a:srgbClr val="111827"/>
                </a:solidFill>
                <a:latin typeface="Inter"/>
              </a:defRPr>
            </a:pPr>
            <a:r>
              <a:t>•  Centralized Controller: Flask server maps queries and requests atmospheric data feeds.</a:t>
            </a:r>
          </a:p>
          <a:p>
            <a:pPr>
              <a:spcAft>
                <a:spcPts val="1600"/>
              </a:spcAft>
              <a:defRPr sz="2000">
                <a:solidFill>
                  <a:srgbClr val="111827"/>
                </a:solidFill>
                <a:latin typeface="Inter"/>
              </a:defRPr>
            </a:pPr>
            <a:r>
              <a:t>•  Client Layer: JavaScript client requests geocoding coordinates and renders interactive maps.</a:t>
            </a:r>
          </a:p>
          <a:p>
            <a:pPr>
              <a:spcAft>
                <a:spcPts val="1600"/>
              </a:spcAft>
              <a:defRPr sz="2000">
                <a:solidFill>
                  <a:srgbClr val="111827"/>
                </a:solidFill>
                <a:latin typeface="Inter"/>
              </a:defRPr>
            </a:pPr>
            <a:r>
              <a:t>•  Database Caching Module: SQLite database logs recent searches and manages favorites.</a:t>
            </a:r>
          </a:p>
          <a:p>
            <a:pPr>
              <a:spcAft>
                <a:spcPts val="1600"/>
              </a:spcAft>
              <a:defRPr sz="2000">
                <a:solidFill>
                  <a:srgbClr val="111827"/>
                </a:solidFill>
                <a:latin typeface="Inter"/>
              </a:defRPr>
            </a:pPr>
            <a:r>
              <a:t>•  APIs Layer: Geocoding, Open-Meteo forecasts, and WAQI ground-stations merged dynamically.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A56DB"/>
                </a:solidFill>
                <a:latin typeface="Outfit"/>
              </a:defRPr>
            </a:pPr>
            <a:r>
              <a:t>2.2 ALGORITHM (STEP-WISE LOGIC)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015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000">
                <a:solidFill>
                  <a:srgbClr val="111827"/>
                </a:solidFill>
                <a:latin typeface="Inter"/>
              </a:defRPr>
            </a:pPr>
            <a:r>
              <a:t>•  Step 1: Accept search query, log in database, and get coordinates from Geocoding API.</a:t>
            </a:r>
          </a:p>
          <a:p>
            <a:pPr>
              <a:spcAft>
                <a:spcPts val="1600"/>
              </a:spcAft>
              <a:defRPr sz="2000">
                <a:solidFill>
                  <a:srgbClr val="111827"/>
                </a:solidFill>
                <a:latin typeface="Inter"/>
              </a:defRPr>
            </a:pPr>
            <a:r>
              <a:t>•  Step 2: Query Open-Meteo forecasts and WAQI live ground-stations using coordinates.</a:t>
            </a:r>
          </a:p>
          <a:p>
            <a:pPr>
              <a:spcAft>
                <a:spcPts val="1600"/>
              </a:spcAft>
              <a:defRPr sz="2000">
                <a:solidFill>
                  <a:srgbClr val="111827"/>
                </a:solidFill>
                <a:latin typeface="Inter"/>
              </a:defRPr>
            </a:pPr>
            <a:r>
              <a:t>•  Step 3: Verify distance between queried coordinates and ground-station coordinates to prevent hijack redirects.</a:t>
            </a:r>
          </a:p>
          <a:p>
            <a:pPr>
              <a:spcAft>
                <a:spcPts val="1600"/>
              </a:spcAft>
              <a:defRPr sz="2000">
                <a:solidFill>
                  <a:srgbClr val="111827"/>
                </a:solidFill>
                <a:latin typeface="Inter"/>
              </a:defRPr>
            </a:pPr>
            <a:r>
              <a:t>•  Step 4: Scale pollutants, check against WHO safe guidelines, and calculate weather stagnation warnings.</a:t>
            </a:r>
          </a:p>
          <a:p>
            <a:pPr>
              <a:spcAft>
                <a:spcPts val="1600"/>
              </a:spcAft>
              <a:defRPr sz="2000">
                <a:solidFill>
                  <a:srgbClr val="111827"/>
                </a:solidFill>
                <a:latin typeface="Inter"/>
              </a:defRPr>
            </a:pPr>
            <a:r>
              <a:t>•  Step 5: Load favorites database, sort cleanest cities ascending, and render leaderboard.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A56DB"/>
                </a:solidFill>
                <a:latin typeface="Outfit"/>
              </a:defRPr>
            </a:pPr>
            <a:r>
              <a:t>2.3 CODE WITH COMMENTS (PART 1: FLASK APP SETUP)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44575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00">
                <a:solidFill>
                  <a:srgbClr val="111827"/>
                </a:solidFill>
                <a:latin typeface="Courier New"/>
              </a:defRPr>
            </a:pPr>
            <a:r>
              <a:t>from flask import Flask, render_template, request, jsonify</a:t>
            </a:r>
          </a:p>
          <a:p>
            <a:pPr>
              <a:spcAft>
                <a:spcPts val="100"/>
              </a:spcAft>
              <a:defRPr sz="1300">
                <a:solidFill>
                  <a:srgbClr val="111827"/>
                </a:solidFill>
                <a:latin typeface="Courier New"/>
              </a:defRPr>
            </a:pPr>
            <a:r>
              <a:t>import requests</a:t>
            </a:r>
          </a:p>
          <a:p>
            <a:pPr>
              <a:spcAft>
                <a:spcPts val="100"/>
              </a:spcAft>
              <a:defRPr sz="1300">
                <a:solidFill>
                  <a:srgbClr val="111827"/>
                </a:solidFill>
                <a:latin typeface="Courier New"/>
              </a:defRPr>
            </a:pPr>
            <a:r>
              <a:t>import database</a:t>
            </a:r>
          </a:p>
          <a:p>
            <a:pPr>
              <a:spcAft>
                <a:spcPts val="100"/>
              </a:spcAft>
              <a:defRPr sz="1300">
                <a:solidFill>
                  <a:srgbClr val="111827"/>
                </a:solidFill>
                <a:latin typeface="Courier New"/>
              </a:defRPr>
            </a:pPr>
          </a:p>
          <a:p>
            <a:pPr>
              <a:spcAft>
                <a:spcPts val="100"/>
              </a:spcAft>
              <a:defRPr sz="1300">
                <a:solidFill>
                  <a:srgbClr val="111827"/>
                </a:solidFill>
                <a:latin typeface="Courier New"/>
              </a:defRPr>
            </a:pPr>
            <a:r>
              <a:t>app = Flask(__name__)</a:t>
            </a:r>
          </a:p>
          <a:p>
            <a:pPr>
              <a:spcAft>
                <a:spcPts val="100"/>
              </a:spcAft>
              <a:defRPr sz="1300">
                <a:solidFill>
                  <a:srgbClr val="111827"/>
                </a:solidFill>
                <a:latin typeface="Courier New"/>
              </a:defRPr>
            </a:pPr>
            <a:r>
              <a:t>database.init_db()  # Initialize database tables</a:t>
            </a:r>
          </a:p>
          <a:p>
            <a:pPr>
              <a:spcAft>
                <a:spcPts val="100"/>
              </a:spcAft>
              <a:defRPr sz="1300">
                <a:solidFill>
                  <a:srgbClr val="111827"/>
                </a:solidFill>
                <a:latin typeface="Courier New"/>
              </a:defRPr>
            </a:pPr>
          </a:p>
          <a:p>
            <a:pPr>
              <a:spcAft>
                <a:spcPts val="100"/>
              </a:spcAft>
              <a:defRPr sz="1300">
                <a:solidFill>
                  <a:srgbClr val="111827"/>
                </a:solidFill>
                <a:latin typeface="Courier New"/>
              </a:defRPr>
            </a:pPr>
            <a:r>
              <a:t>@app.route('/')</a:t>
            </a:r>
          </a:p>
          <a:p>
            <a:pPr>
              <a:spcAft>
                <a:spcPts val="100"/>
              </a:spcAft>
              <a:defRPr sz="1300">
                <a:solidFill>
                  <a:srgbClr val="111827"/>
                </a:solidFill>
                <a:latin typeface="Courier New"/>
              </a:defRPr>
            </a:pPr>
            <a:r>
              <a:t>def index():</a:t>
            </a:r>
          </a:p>
          <a:p>
            <a:pPr>
              <a:spcAft>
                <a:spcPts val="100"/>
              </a:spcAft>
              <a:defRPr sz="1300">
                <a:solidFill>
                  <a:srgbClr val="111827"/>
                </a:solidFill>
                <a:latin typeface="Courier New"/>
              </a:defRPr>
            </a:pPr>
            <a:r>
              <a:t>    return render_template('index.html')  # Serves main UI page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A56DB"/>
                </a:solidFill>
                <a:latin typeface="Outfit"/>
              </a:defRPr>
            </a:pPr>
            <a:r>
              <a:t>2.3 CODE WITH COMMENTS (PART 2: WEATHER &amp; AQI API)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44575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00">
                <a:solidFill>
                  <a:srgbClr val="111827"/>
                </a:solidFill>
                <a:latin typeface="Courier New"/>
              </a:defRPr>
            </a:pPr>
            <a:r>
              <a:t>@app.route('/api/air-quality')</a:t>
            </a:r>
          </a:p>
          <a:p>
            <a:pPr>
              <a:spcAft>
                <a:spcPts val="100"/>
              </a:spcAft>
              <a:defRPr sz="1300">
                <a:solidFill>
                  <a:srgbClr val="111827"/>
                </a:solidFill>
                <a:latin typeface="Courier New"/>
              </a:defRPr>
            </a:pPr>
            <a:r>
              <a:t>def get_air_quality():</a:t>
            </a:r>
          </a:p>
          <a:p>
            <a:pPr>
              <a:spcAft>
                <a:spcPts val="100"/>
              </a:spcAft>
              <a:defRPr sz="1300">
                <a:solidFill>
                  <a:srgbClr val="111827"/>
                </a:solidFill>
                <a:latin typeface="Courier New"/>
              </a:defRPr>
            </a:pPr>
            <a:r>
              <a:t>    lat = request.args.get('latitude')</a:t>
            </a:r>
          </a:p>
          <a:p>
            <a:pPr>
              <a:spcAft>
                <a:spcPts val="100"/>
              </a:spcAft>
              <a:defRPr sz="1300">
                <a:solidFill>
                  <a:srgbClr val="111827"/>
                </a:solidFill>
                <a:latin typeface="Courier New"/>
              </a:defRPr>
            </a:pPr>
            <a:r>
              <a:t>    lon = request.args.get('longitude')</a:t>
            </a:r>
          </a:p>
          <a:p>
            <a:pPr>
              <a:spcAft>
                <a:spcPts val="100"/>
              </a:spcAft>
              <a:defRPr sz="1300">
                <a:solidFill>
                  <a:srgbClr val="111827"/>
                </a:solidFill>
                <a:latin typeface="Courier New"/>
              </a:defRPr>
            </a:pPr>
            <a:r>
              <a:t>    # Fetch Open-Meteo Air Quality forecasts</a:t>
            </a:r>
          </a:p>
          <a:p>
            <a:pPr>
              <a:spcAft>
                <a:spcPts val="100"/>
              </a:spcAft>
              <a:defRPr sz="1300">
                <a:solidFill>
                  <a:srgbClr val="111827"/>
                </a:solidFill>
                <a:latin typeface="Courier New"/>
              </a:defRPr>
            </a:pPr>
            <a:r>
              <a:t>    aqi_url = f"https://air-quality-api.open-meteo.com/v1/air-quality?latitude={lat}&amp;longitude={lon}&amp;current=us_aqi,pm2_5,pm10,carbon_monoxide,nitrogen_dioxide"</a:t>
            </a:r>
          </a:p>
          <a:p>
            <a:pPr>
              <a:spcAft>
                <a:spcPts val="100"/>
              </a:spcAft>
              <a:defRPr sz="1300">
                <a:solidFill>
                  <a:srgbClr val="111827"/>
                </a:solidFill>
                <a:latin typeface="Courier New"/>
              </a:defRPr>
            </a:pPr>
            <a:r>
              <a:t>    aqi_data = requests.get(aqi_url).json()</a:t>
            </a:r>
          </a:p>
          <a:p>
            <a:pPr>
              <a:spcAft>
                <a:spcPts val="100"/>
              </a:spcAft>
              <a:defRPr sz="1300">
                <a:solidFill>
                  <a:srgbClr val="111827"/>
                </a:solidFill>
                <a:latin typeface="Courier New"/>
              </a:defRPr>
            </a:pPr>
            <a:r>
              <a:t>    # Fetch physical weather conditions</a:t>
            </a:r>
          </a:p>
          <a:p>
            <a:pPr>
              <a:spcAft>
                <a:spcPts val="100"/>
              </a:spcAft>
              <a:defRPr sz="1300">
                <a:solidFill>
                  <a:srgbClr val="111827"/>
                </a:solidFill>
                <a:latin typeface="Courier New"/>
              </a:defRPr>
            </a:pPr>
            <a:r>
              <a:t>    weather_url = f"https://api.open-meteo.com/v1/forecast?latitude={lat}&amp;longitude={lon}&amp;current=temperature_2m,wind_speed_10m"</a:t>
            </a:r>
          </a:p>
          <a:p>
            <a:pPr>
              <a:spcAft>
                <a:spcPts val="100"/>
              </a:spcAft>
              <a:defRPr sz="1300">
                <a:solidFill>
                  <a:srgbClr val="111827"/>
                </a:solidFill>
                <a:latin typeface="Courier New"/>
              </a:defRPr>
            </a:pPr>
            <a:r>
              <a:t>    weather_data = requests.get(weather_url).json()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A56DB"/>
                </a:solidFill>
                <a:latin typeface="Outfit"/>
              </a:defRPr>
            </a:pPr>
            <a:r>
              <a:t>2.3 CODE WITH COMMENTS (PART 3: REDIRECT FALLBACK)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44575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00">
                <a:solidFill>
                  <a:srgbClr val="111827"/>
                </a:solidFill>
                <a:latin typeface="Courier New"/>
              </a:defRPr>
            </a:pPr>
            <a:r>
              <a:t>    # Fetch WAQI live ground station and verify proximity</a:t>
            </a:r>
          </a:p>
          <a:p>
            <a:pPr>
              <a:spcAft>
                <a:spcPts val="100"/>
              </a:spcAft>
              <a:defRPr sz="1300">
                <a:solidFill>
                  <a:srgbClr val="111827"/>
                </a:solidFill>
                <a:latin typeface="Courier New"/>
              </a:defRPr>
            </a:pPr>
            <a:r>
              <a:t>    waqi_token = request.args.get('token', 'demo')</a:t>
            </a:r>
          </a:p>
          <a:p>
            <a:pPr>
              <a:spcAft>
                <a:spcPts val="100"/>
              </a:spcAft>
              <a:defRPr sz="1300">
                <a:solidFill>
                  <a:srgbClr val="111827"/>
                </a:solidFill>
                <a:latin typeface="Courier New"/>
              </a:defRPr>
            </a:pPr>
            <a:r>
              <a:t>    waqi_url = f"https://api.waqi.info/feed/geo:{lat};{lon}/?token={waqi_token}"</a:t>
            </a:r>
          </a:p>
          <a:p>
            <a:pPr>
              <a:spcAft>
                <a:spcPts val="100"/>
              </a:spcAft>
              <a:defRPr sz="1300">
                <a:solidFill>
                  <a:srgbClr val="111827"/>
                </a:solidFill>
                <a:latin typeface="Courier New"/>
              </a:defRPr>
            </a:pPr>
            <a:r>
              <a:t>    waqi_res = requests.get(waqi_url).json()</a:t>
            </a:r>
          </a:p>
          <a:p>
            <a:pPr>
              <a:spcAft>
                <a:spcPts val="100"/>
              </a:spcAft>
              <a:defRPr sz="1300">
                <a:solidFill>
                  <a:srgbClr val="111827"/>
                </a:solidFill>
                <a:latin typeface="Courier New"/>
              </a:defRPr>
            </a:pPr>
            <a:r>
              <a:t>    if waqi_res.get('status') == 'ok':</a:t>
            </a:r>
          </a:p>
          <a:p>
            <a:pPr>
              <a:spcAft>
                <a:spcPts val="100"/>
              </a:spcAft>
              <a:defRPr sz="1300">
                <a:solidFill>
                  <a:srgbClr val="111827"/>
                </a:solidFill>
                <a:latin typeface="Courier New"/>
              </a:defRPr>
            </a:pPr>
            <a:r>
              <a:t>        station_geo = waqi_res['data']['city']['geo']</a:t>
            </a:r>
          </a:p>
          <a:p>
            <a:pPr>
              <a:spcAft>
                <a:spcPts val="100"/>
              </a:spcAft>
              <a:defRPr sz="1300">
                <a:solidFill>
                  <a:srgbClr val="111827"/>
                </a:solidFill>
                <a:latin typeface="Courier New"/>
              </a:defRPr>
            </a:pPr>
            <a:r>
              <a:t>        # If distance &gt; 2.0 degrees, discard default redirect</a:t>
            </a:r>
          </a:p>
          <a:p>
            <a:pPr>
              <a:spcAft>
                <a:spcPts val="100"/>
              </a:spcAft>
              <a:defRPr sz="1300">
                <a:solidFill>
                  <a:srgbClr val="111827"/>
                </a:solidFill>
                <a:latin typeface="Courier New"/>
              </a:defRPr>
            </a:pPr>
            <a:r>
              <a:t>        if abs(float(lat) - station_geo[0]) &gt; 2.0 or abs(float(lon) - station_geo[1]) &gt; 2.0:</a:t>
            </a:r>
          </a:p>
          <a:p>
            <a:pPr>
              <a:spcAft>
                <a:spcPts val="100"/>
              </a:spcAft>
              <a:defRPr sz="1300">
                <a:solidFill>
                  <a:srgbClr val="111827"/>
                </a:solidFill>
                <a:latin typeface="Courier New"/>
              </a:defRPr>
            </a:pPr>
            <a:r>
              <a:t>            waqi_aqi = None  # Redirect hijacked</a:t>
            </a:r>
          </a:p>
          <a:p>
            <a:pPr>
              <a:spcAft>
                <a:spcPts val="100"/>
              </a:spcAft>
              <a:defRPr sz="1300">
                <a:solidFill>
                  <a:srgbClr val="111827"/>
                </a:solidFill>
                <a:latin typeface="Courier New"/>
              </a:defRPr>
            </a:pPr>
            <a:r>
              <a:t>        else:</a:t>
            </a:r>
          </a:p>
          <a:p>
            <a:pPr>
              <a:spcAft>
                <a:spcPts val="100"/>
              </a:spcAft>
              <a:defRPr sz="1300">
                <a:solidFill>
                  <a:srgbClr val="111827"/>
                </a:solidFill>
                <a:latin typeface="Courier New"/>
              </a:defRPr>
            </a:pPr>
            <a:r>
              <a:t>            waqi_aqi = waqi_res['data']['aqi']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A56DB"/>
                </a:solidFill>
                <a:latin typeface="Outfit"/>
              </a:defRPr>
            </a:pPr>
            <a:r>
              <a:t>2.3 CODE WITH COMMENTS (PART 4: DATABASE CONTROL)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44575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00">
                <a:solidFill>
                  <a:srgbClr val="111827"/>
                </a:solidFill>
                <a:latin typeface="Courier New"/>
              </a:defRPr>
            </a:pPr>
            <a:r>
              <a:t># database.py SQL transactions</a:t>
            </a:r>
          </a:p>
          <a:p>
            <a:pPr>
              <a:spcAft>
                <a:spcPts val="100"/>
              </a:spcAft>
              <a:defRPr sz="1300">
                <a:solidFill>
                  <a:srgbClr val="111827"/>
                </a:solidFill>
                <a:latin typeface="Courier New"/>
              </a:defRPr>
            </a:pPr>
            <a:r>
              <a:t>def add_search_query(city_name):</a:t>
            </a:r>
          </a:p>
          <a:p>
            <a:pPr>
              <a:spcAft>
                <a:spcPts val="100"/>
              </a:spcAft>
              <a:defRPr sz="1300">
                <a:solidFill>
                  <a:srgbClr val="111827"/>
                </a:solidFill>
                <a:latin typeface="Courier New"/>
              </a:defRPr>
            </a:pPr>
            <a:r>
              <a:t>    conn = sqlite3.connect('aqi_dashboard.db')</a:t>
            </a:r>
          </a:p>
          <a:p>
            <a:pPr>
              <a:spcAft>
                <a:spcPts val="100"/>
              </a:spcAft>
              <a:defRPr sz="1300">
                <a:solidFill>
                  <a:srgbClr val="111827"/>
                </a:solidFill>
                <a:latin typeface="Courier New"/>
              </a:defRPr>
            </a:pPr>
            <a:r>
              <a:t>    cursor = conn.cursor()</a:t>
            </a:r>
          </a:p>
          <a:p>
            <a:pPr>
              <a:spcAft>
                <a:spcPts val="100"/>
              </a:spcAft>
              <a:defRPr sz="1300">
                <a:solidFill>
                  <a:srgbClr val="111827"/>
                </a:solidFill>
                <a:latin typeface="Courier New"/>
              </a:defRPr>
            </a:pPr>
            <a:r>
              <a:t>    cursor.execute('INSERT INTO search_history (city, timestamp) VALUES (?, ?)', (city_name, datetime.now()))</a:t>
            </a:r>
          </a:p>
          <a:p>
            <a:pPr>
              <a:spcAft>
                <a:spcPts val="100"/>
              </a:spcAft>
              <a:defRPr sz="1300">
                <a:solidFill>
                  <a:srgbClr val="111827"/>
                </a:solidFill>
                <a:latin typeface="Courier New"/>
              </a:defRPr>
            </a:pPr>
            <a:r>
              <a:t>    # Prune search logs keeping only latest 10 records</a:t>
            </a:r>
          </a:p>
          <a:p>
            <a:pPr>
              <a:spcAft>
                <a:spcPts val="100"/>
              </a:spcAft>
              <a:defRPr sz="1300">
                <a:solidFill>
                  <a:srgbClr val="111827"/>
                </a:solidFill>
                <a:latin typeface="Courier New"/>
              </a:defRPr>
            </a:pPr>
            <a:r>
              <a:t>    cursor.execute('DELETE FROM search_history WHERE id NOT IN (SELECT id FROM search_history ORDER BY timestamp DESC LIMIT 10)')</a:t>
            </a:r>
          </a:p>
          <a:p>
            <a:pPr>
              <a:spcAft>
                <a:spcPts val="100"/>
              </a:spcAft>
              <a:defRPr sz="1300">
                <a:solidFill>
                  <a:srgbClr val="111827"/>
                </a:solidFill>
                <a:latin typeface="Courier New"/>
              </a:defRPr>
            </a:pPr>
            <a:r>
              <a:t>    conn.commit()</a:t>
            </a:r>
          </a:p>
          <a:p>
            <a:pPr>
              <a:spcAft>
                <a:spcPts val="100"/>
              </a:spcAft>
              <a:defRPr sz="1300">
                <a:solidFill>
                  <a:srgbClr val="111827"/>
                </a:solidFill>
                <a:latin typeface="Courier New"/>
              </a:defRPr>
            </a:pPr>
            <a:r>
              <a:t>    conn.close()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60152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1A56DB"/>
                </a:solidFill>
                <a:latin typeface="Outfit"/>
              </a:defRPr>
            </a:pPr>
            <a:r>
              <a:t>CHAPTER 3</a:t>
            </a:r>
          </a:p>
          <a:p>
            <a:pPr algn="ctr">
              <a:spcBef>
                <a:spcPts val="1500"/>
              </a:spcBef>
              <a:defRPr sz="2800" b="1">
                <a:solidFill>
                  <a:srgbClr val="111827"/>
                </a:solidFill>
                <a:latin typeface="Outfit"/>
              </a:defRPr>
            </a:pPr>
            <a:r>
              <a:t>RESULTS &amp; CONCLUSION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A56DB"/>
                </a:solidFill>
                <a:latin typeface="Outfit"/>
              </a:defRPr>
            </a:pPr>
            <a:r>
              <a:t>3.1 RESULTS AND DISCUSSION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111827"/>
                </a:solidFill>
                <a:latin typeface="Inter"/>
              </a:defRPr>
            </a:pPr>
            <a:r>
              <a:t>To evaluate performance, a 7-day tracking test was carried out over 120 asynchronous requests. The backend bypassed WAQI API demo redirects for all coordinates outside Shanghai, falling back to Open-Meteo models with 100% stability. SQLite transactional latency remained under 5 milliseconds.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1828800"/>
            <a:ext cx="487375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A56DB"/>
                </a:solidFill>
                <a:latin typeface="Inter"/>
              </a:defRPr>
            </a:pPr>
            <a:r>
              <a:t>Metric                                        | Value</a:t>
            </a:r>
          </a:p>
          <a:p>
            <a:pPr>
              <a:spcBef>
                <a:spcPts val="800"/>
              </a:spcBef>
              <a:defRPr sz="1400">
                <a:solidFill>
                  <a:srgbClr val="111827"/>
                </a:solidFill>
                <a:latin typeface="Courier New"/>
              </a:defRPr>
            </a:pPr>
            <a:r>
              <a:t>Geocoding success rate                     | 98.3%</a:t>
            </a:r>
          </a:p>
          <a:p>
            <a:pPr>
              <a:spcBef>
                <a:spcPts val="800"/>
              </a:spcBef>
              <a:defRPr sz="1400">
                <a:solidFill>
                  <a:srgbClr val="111827"/>
                </a:solidFill>
                <a:latin typeface="Courier New"/>
              </a:defRPr>
            </a:pPr>
            <a:r>
              <a:t>Live AQI fallback accuracy                 | 100%</a:t>
            </a:r>
          </a:p>
          <a:p>
            <a:pPr>
              <a:spcBef>
                <a:spcPts val="800"/>
              </a:spcBef>
              <a:defRPr sz="1400">
                <a:solidFill>
                  <a:srgbClr val="111827"/>
                </a:solidFill>
                <a:latin typeface="Courier New"/>
              </a:defRPr>
            </a:pPr>
            <a:r>
              <a:t>Average API response time                  | 0.42 seconds</a:t>
            </a:r>
          </a:p>
          <a:p>
            <a:pPr>
              <a:spcBef>
                <a:spcPts val="800"/>
              </a:spcBef>
              <a:defRPr sz="1400">
                <a:solidFill>
                  <a:srgbClr val="111827"/>
                </a:solidFill>
                <a:latin typeface="Courier New"/>
              </a:defRPr>
            </a:pPr>
            <a:r>
              <a:t>WHO warning calculation accuracy           | 100%</a:t>
            </a:r>
          </a:p>
          <a:p>
            <a:pPr>
              <a:spcBef>
                <a:spcPts val="800"/>
              </a:spcBef>
              <a:defRPr sz="1400">
                <a:solidFill>
                  <a:srgbClr val="111827"/>
                </a:solidFill>
                <a:latin typeface="Courier New"/>
              </a:defRPr>
            </a:pPr>
            <a:r>
              <a:t>SQLite query latency                       | 4.2 milliseconds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A56DB"/>
                </a:solidFill>
                <a:latin typeface="Outfit"/>
              </a:defRPr>
            </a:pPr>
            <a:r>
              <a:t>3.2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015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000">
                <a:solidFill>
                  <a:srgbClr val="111827"/>
                </a:solidFill>
                <a:latin typeface="Inter"/>
              </a:defRPr>
            </a:pPr>
            <a:r>
              <a:t>•  The AeroQuest application successfully meets its goal of providing real-time, localized air quality data.</a:t>
            </a:r>
          </a:p>
          <a:p>
            <a:pPr>
              <a:spcAft>
                <a:spcPts val="1600"/>
              </a:spcAft>
              <a:defRPr sz="2000">
                <a:solidFill>
                  <a:srgbClr val="111827"/>
                </a:solidFill>
                <a:latin typeface="Inter"/>
              </a:defRPr>
            </a:pPr>
            <a:r>
              <a:t>•  The distance check mechanism safely runs without degrading responsiveness or API speed.</a:t>
            </a:r>
          </a:p>
          <a:p>
            <a:pPr>
              <a:spcAft>
                <a:spcPts val="1600"/>
              </a:spcAft>
              <a:defRPr sz="2000">
                <a:solidFill>
                  <a:srgbClr val="111827"/>
                </a:solidFill>
                <a:latin typeface="Inter"/>
              </a:defRPr>
            </a:pPr>
            <a:r>
              <a:t>•  SQLite caching ensures favorites and search history reload instantly on dashboard launch.</a:t>
            </a:r>
          </a:p>
          <a:p>
            <a:pPr>
              <a:spcAft>
                <a:spcPts val="1600"/>
              </a:spcAft>
              <a:defRPr sz="2000">
                <a:solidFill>
                  <a:srgbClr val="111827"/>
                </a:solidFill>
                <a:latin typeface="Inter"/>
              </a:defRPr>
            </a:pPr>
            <a:r>
              <a:t>•  Highly effective, low-cost solution for public health alerts and ambient exposure management.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828800"/>
            <a:ext cx="9445752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1A56DB"/>
                </a:solidFill>
                <a:latin typeface="Outfit"/>
              </a:defRPr>
            </a:pPr>
            <a:r>
              <a:t>THANK YOU</a:t>
            </a:r>
          </a:p>
          <a:p>
            <a:pPr algn="ctr">
              <a:spcBef>
                <a:spcPts val="3000"/>
              </a:spcBef>
              <a:defRPr sz="2000" i="1">
                <a:solidFill>
                  <a:srgbClr val="111827"/>
                </a:solidFill>
                <a:latin typeface="Inter"/>
              </a:defRPr>
            </a:pPr>
            <a:r>
              <a:t>"The joy of coding Python should be in seeing short, clean, readable classes that express a lot of action in a small amount of clear code."</a:t>
            </a:r>
          </a:p>
          <a:p>
            <a:pPr algn="ctr">
              <a:spcBef>
                <a:spcPts val="1000"/>
              </a:spcBef>
              <a:defRPr sz="1600">
                <a:solidFill>
                  <a:srgbClr val="6B7280"/>
                </a:solidFill>
                <a:latin typeface="Inter"/>
              </a:defRPr>
            </a:pPr>
            <a:r>
              <a:t>— Guido van Rossum (Creator of Python)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